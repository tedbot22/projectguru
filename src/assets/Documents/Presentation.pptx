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EC735-9B2D-7C6E-E11D-42F8B4EA76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88EEDA-368A-97CF-7F8A-8E66393A42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A3741-3195-AC8F-FA7F-C3031261B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C9214-D9E2-8749-8A46-62CB6BABA24B}" type="datetimeFigureOut">
              <a:rPr lang="en-NG" smtClean="0"/>
              <a:t>02/02/2026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E8922-3E11-92CF-D769-DCF470CD5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CE712-7461-2009-E0CC-F41BEC7B9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8F682-3B13-7148-85F1-3C0AF69FBAEF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39810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3927D-0ABD-828E-0BFD-85A2F0940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1161A-5607-FED8-D8C2-1C51AD9C1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F1268-EEE7-E6E8-779D-F5E9702CE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C9214-D9E2-8749-8A46-62CB6BABA24B}" type="datetimeFigureOut">
              <a:rPr lang="en-NG" smtClean="0"/>
              <a:t>02/02/2026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74EB5-C144-F62C-1AA5-3FC3F4BAC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8E553-6B53-5381-0DA0-7E94BE008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8F682-3B13-7148-85F1-3C0AF69FBAEF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116616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6166D-F6CE-1D27-5BE2-79035AEC7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8C15EC-D91E-DB17-9D6E-78C361CC6A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34030-B517-C252-EC02-A279CB73A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C9214-D9E2-8749-8A46-62CB6BABA24B}" type="datetimeFigureOut">
              <a:rPr lang="en-NG" smtClean="0"/>
              <a:t>02/02/2026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9FBC7-F847-FDED-812D-8628F7806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774B7-7E24-103D-6454-CD05C61BC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8F682-3B13-7148-85F1-3C0AF69FBAEF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680600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80D40-C6D1-374E-0D8F-2FCE22EEF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F1744-B852-4FE0-844B-786A558433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298260-1B5D-52D5-9040-6D89703BB9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99010E-D4AB-A489-4687-4CA5BB2EE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C9214-D9E2-8749-8A46-62CB6BABA24B}" type="datetimeFigureOut">
              <a:rPr lang="en-NG" smtClean="0"/>
              <a:t>02/02/2026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F81B4A-80E4-6D09-6C20-E1CADBEDC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071887-FC6A-E962-50E3-A9B697B3C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8F682-3B13-7148-85F1-3C0AF69FBAEF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851538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5E947-DE08-C8E6-B777-19B8801CD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06624-9F2F-3677-C118-50C934584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CB3A41-2F21-CF16-ABDE-74F69F6A7D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6519A1-C496-823D-7277-4E16826599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255ABF-3DB0-F917-2632-7B6311B826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F4371C-AD8C-CE89-C6B3-ADD90D798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C9214-D9E2-8749-8A46-62CB6BABA24B}" type="datetimeFigureOut">
              <a:rPr lang="en-NG" smtClean="0"/>
              <a:t>02/02/2026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A57D73-3E6F-5690-2C36-8ED04D2A0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DC504A-9177-8B78-2D09-FBD68A562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8F682-3B13-7148-85F1-3C0AF69FBAEF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701890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45C66-117F-CDF7-B420-6453E2909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07FBF5-38D2-6B05-FB8A-33CBD4A6A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C9214-D9E2-8749-8A46-62CB6BABA24B}" type="datetimeFigureOut">
              <a:rPr lang="en-NG" smtClean="0"/>
              <a:t>02/02/2026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DDB873-964D-54C8-459A-8792F915F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563ECF-0594-D1FB-4994-789056056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8F682-3B13-7148-85F1-3C0AF69FBAEF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50609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B84622-18E2-450F-A260-FF324A61C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C9214-D9E2-8749-8A46-62CB6BABA24B}" type="datetimeFigureOut">
              <a:rPr lang="en-NG" smtClean="0"/>
              <a:t>02/02/2026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7B8089-C956-43AE-B0D9-2462C30F6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8704C-9231-C0F1-4D3B-A797FD33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8F682-3B13-7148-85F1-3C0AF69FBAEF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253150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C0716-0EB2-DA88-3073-25A5CCF1B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69322-62E5-A455-D966-D2DC3D878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C8EF4F-8631-5D45-B891-4C76C040C5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6861C7-0F57-6913-C9A7-591EF0348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C9214-D9E2-8749-8A46-62CB6BABA24B}" type="datetimeFigureOut">
              <a:rPr lang="en-NG" smtClean="0"/>
              <a:t>02/02/2026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DFE4D-8891-1749-6DFC-0ED0080DC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EE00F-A689-1402-C76F-A59668CA7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8F682-3B13-7148-85F1-3C0AF69FBAEF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798125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DEB9A-9C19-53F8-DA7D-9C8AF9432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FBEE6E-23DE-114C-0C7E-4DBDA656FD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3E04D6-7AF6-3F2F-ABE6-5B98A84029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F8682D-DE6E-F40B-A112-DCF0D9114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C9214-D9E2-8749-8A46-62CB6BABA24B}" type="datetimeFigureOut">
              <a:rPr lang="en-NG" smtClean="0"/>
              <a:t>02/02/2026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4F9846-53FD-EA9B-88E6-4D2BABCBA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6C6C99-D330-26CD-2538-1C697D724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8F682-3B13-7148-85F1-3C0AF69FBAEF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042216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D8873-1409-24F3-1E83-83F41ECFE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5ACC35-2595-1E15-0203-918CAB0DB5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15DFF-028F-3AC6-6321-FD0D909AC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C9214-D9E2-8749-8A46-62CB6BABA24B}" type="datetimeFigureOut">
              <a:rPr lang="en-NG" smtClean="0"/>
              <a:t>02/02/2026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6EF89-FA7B-C9F1-3F13-F82DAD452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81E10-821B-AC7D-4057-F016379CE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8F682-3B13-7148-85F1-3C0AF69FBAEF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707412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1333B1-1094-BAB8-4F36-8AC18ABF50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8C942D-C367-B2FA-4983-6901FCF349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D2963-71B5-C521-4D52-0F2559325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C9214-D9E2-8749-8A46-62CB6BABA24B}" type="datetimeFigureOut">
              <a:rPr lang="en-NG" smtClean="0"/>
              <a:t>02/02/2026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A30E3-CE50-0012-5D30-B69E006F5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78586-D14D-51D9-8340-FD7CA91D5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8F682-3B13-7148-85F1-3C0AF69FBAEF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81777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1A546F-6688-E939-D1B2-F3FAD5C88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932CC3-9475-4E65-BBFF-E27685949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9CB5D-E5BD-7AC3-3B97-5ABD1437E6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C9214-D9E2-8749-8A46-62CB6BABA24B}" type="datetimeFigureOut">
              <a:rPr lang="en-NG" smtClean="0"/>
              <a:t>02/02/2026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D5CC0-E401-5567-6A1B-1EB32093DE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914E2-1FC8-19A6-CB99-17C5ABB546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88F682-3B13-7148-85F1-3C0AF69FBAEF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376082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C2A69-BD26-AF4D-3269-217253CAB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7253" y="4341567"/>
            <a:ext cx="8397489" cy="2015936"/>
          </a:xfrm>
        </p:spPr>
        <p:txBody>
          <a:bodyPr anchor="t">
            <a:normAutofit/>
          </a:bodyPr>
          <a:lstStyle/>
          <a:p>
            <a:br>
              <a:rPr lang="en-GB" sz="2700" dirty="0">
                <a:latin typeface="Amasis MT Pro" panose="02040504050005020304" pitchFamily="18" charset="77"/>
              </a:rPr>
            </a:br>
            <a:r>
              <a:rPr lang="en-GB" sz="2700" b="1" i="0" u="none" strike="noStrike" dirty="0" err="1">
                <a:solidFill>
                  <a:srgbClr val="000000"/>
                </a:solidFill>
                <a:effectLst/>
                <a:latin typeface="Amasis MT Pro" panose="02040504050005020304" pitchFamily="18" charset="77"/>
              </a:rPr>
              <a:t>EJAKPOMEHWE</a:t>
            </a:r>
            <a:r>
              <a:rPr lang="en-GB" sz="2700" b="1" i="0" u="none" strike="noStrike" dirty="0">
                <a:solidFill>
                  <a:srgbClr val="000000"/>
                </a:solidFill>
                <a:effectLst/>
                <a:latin typeface="Amasis MT Pro" panose="02040504050005020304" pitchFamily="18" charset="77"/>
              </a:rPr>
              <a:t> FAITH</a:t>
            </a:r>
            <a:br>
              <a:rPr lang="en-GB" sz="2700" b="1" i="0" u="none" strike="noStrike" dirty="0">
                <a:solidFill>
                  <a:srgbClr val="000000"/>
                </a:solidFill>
                <a:effectLst/>
                <a:latin typeface="Amasis MT Pro" panose="02040504050005020304" pitchFamily="18" charset="77"/>
              </a:rPr>
            </a:br>
            <a:r>
              <a:rPr lang="en-GB" sz="2700" b="1" i="0" u="none" strike="noStrike" dirty="0">
                <a:solidFill>
                  <a:srgbClr val="000000"/>
                </a:solidFill>
                <a:effectLst/>
                <a:latin typeface="Amasis MT Pro" panose="02040504050005020304" pitchFamily="18" charset="77"/>
              </a:rPr>
              <a:t>FOS/22/004039</a:t>
            </a:r>
            <a:br>
              <a:rPr lang="en-US" sz="2700" b="1" i="0" u="none" strike="noStrike" dirty="0">
                <a:solidFill>
                  <a:srgbClr val="000000"/>
                </a:solidFill>
                <a:effectLst/>
                <a:latin typeface="Amasis MT Pro" panose="02040504050005020304" pitchFamily="18" charset="77"/>
              </a:rPr>
            </a:br>
            <a:br>
              <a:rPr lang="en-US" sz="2700" b="1" i="0" u="none" strike="noStrike" dirty="0">
                <a:solidFill>
                  <a:srgbClr val="000000"/>
                </a:solidFill>
                <a:effectLst/>
                <a:latin typeface="Amasis MT Pro" panose="02040504050005020304" pitchFamily="18" charset="77"/>
              </a:rPr>
            </a:br>
            <a:r>
              <a:rPr lang="en-US" sz="2700" b="1" i="0" u="none" strike="noStrike" dirty="0">
                <a:solidFill>
                  <a:srgbClr val="000000"/>
                </a:solidFill>
                <a:effectLst/>
                <a:latin typeface="Amasis MT Pro" panose="02040504050005020304" pitchFamily="18" charset="77"/>
              </a:rPr>
              <a:t>SUPERVISOR: DR. E.A. ENOH</a:t>
            </a:r>
            <a:endParaRPr lang="en-GB" sz="2700" dirty="0">
              <a:latin typeface="Amasis MT Pro" panose="02040504050005020304" pitchFamily="18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2B7649-1704-60CC-A7D8-5315CB9F9921}"/>
              </a:ext>
            </a:extLst>
          </p:cNvPr>
          <p:cNvSpPr txBox="1"/>
          <p:nvPr/>
        </p:nvSpPr>
        <p:spPr>
          <a:xfrm>
            <a:off x="921522" y="1196801"/>
            <a:ext cx="10348952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500" b="1" kern="1200">
                <a:solidFill>
                  <a:srgbClr val="000000"/>
                </a:solidFill>
                <a:effectLst/>
                <a:latin typeface="Amasis MT Pro" panose="02040504050005020304" pitchFamily="18" charset="77"/>
                <a:ea typeface="Times New Roman" panose="02020603050405020304" pitchFamily="18" charset="0"/>
                <a:cs typeface="Aptos Serif" panose="02020604070405020304" pitchFamily="18" charset="0"/>
              </a:rPr>
              <a:t>DEPARTMENT OF ENVIRONMENTAL MANAGEMENT AND TOXICOLOGY</a:t>
            </a:r>
            <a:br>
              <a:rPr lang="en-GB" sz="2500" b="1" kern="1200">
                <a:solidFill>
                  <a:srgbClr val="000000"/>
                </a:solidFill>
                <a:effectLst/>
                <a:latin typeface="Amasis MT Pro" panose="02040504050005020304" pitchFamily="18" charset="77"/>
                <a:ea typeface="Times New Roman" panose="02020603050405020304" pitchFamily="18" charset="0"/>
                <a:cs typeface="Aptos Serif" panose="02020604070405020304" pitchFamily="18" charset="0"/>
              </a:rPr>
            </a:br>
            <a:r>
              <a:rPr lang="en-GB" sz="2500" b="1" kern="1200">
                <a:solidFill>
                  <a:srgbClr val="000000"/>
                </a:solidFill>
                <a:effectLst/>
                <a:latin typeface="Amasis MT Pro" panose="02040504050005020304" pitchFamily="18" charset="77"/>
                <a:ea typeface="Times New Roman" panose="02020603050405020304" pitchFamily="18" charset="0"/>
                <a:cs typeface="Aptos Serif" panose="02020604070405020304" pitchFamily="18" charset="0"/>
              </a:rPr>
              <a:t>SOUTHERN DELTA UNIVERSITY, OZORO</a:t>
            </a:r>
            <a:endParaRPr lang="en-NG" sz="2500" kern="100">
              <a:effectLst/>
              <a:latin typeface="Amasis MT Pro" panose="02040504050005020304" pitchFamily="18" charset="77"/>
              <a:ea typeface="Times New Roman" panose="02020603050405020304" pitchFamily="18" charset="0"/>
              <a:cs typeface="Aptos Serif" panose="0202060407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A17D17-B4AB-F50B-6203-13B50B0DD31F}"/>
              </a:ext>
            </a:extLst>
          </p:cNvPr>
          <p:cNvSpPr txBox="1"/>
          <p:nvPr/>
        </p:nvSpPr>
        <p:spPr>
          <a:xfrm>
            <a:off x="1074078" y="2911531"/>
            <a:ext cx="10043844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b="1" kern="1200">
                <a:solidFill>
                  <a:srgbClr val="000000"/>
                </a:solidFill>
                <a:effectLst/>
                <a:latin typeface="Amasis MT Pro" panose="02040504050005020304" pitchFamily="18" charset="77"/>
                <a:ea typeface="Times New Roman" panose="02020603050405020304" pitchFamily="18" charset="0"/>
                <a:cs typeface="Aldhabi" panose="01000000000000000000" pitchFamily="2" charset="-78"/>
              </a:rPr>
              <a:t>A </a:t>
            </a:r>
            <a:r>
              <a:rPr lang="en-GB" sz="2500" b="1" kern="1200" dirty="0">
                <a:solidFill>
                  <a:srgbClr val="000000"/>
                </a:solidFill>
                <a:effectLst/>
                <a:latin typeface="Amasis MT Pro" panose="02040504050005020304" pitchFamily="18" charset="77"/>
                <a:ea typeface="Times New Roman" panose="02020603050405020304" pitchFamily="18" charset="0"/>
                <a:cs typeface="Aldhabi" panose="01000000000000000000" pitchFamily="2" charset="-78"/>
              </a:rPr>
              <a:t>SEMINAR PRESENTATION</a:t>
            </a:r>
            <a:r>
              <a:rPr lang="en-US" sz="2500" b="1" kern="1200" dirty="0">
                <a:solidFill>
                  <a:srgbClr val="000000"/>
                </a:solidFill>
                <a:effectLst/>
                <a:latin typeface="Amasis MT Pro" panose="02040504050005020304" pitchFamily="18" charset="77"/>
                <a:ea typeface="Times New Roman" panose="02020603050405020304" pitchFamily="18" charset="0"/>
                <a:cs typeface="Aldhabi" panose="01000000000000000000" pitchFamily="2" charset="-78"/>
              </a:rPr>
              <a:t> ON </a:t>
            </a:r>
            <a:endParaRPr lang="en-NG" sz="2500" b="1" kern="100" dirty="0">
              <a:effectLst/>
              <a:latin typeface="Amasis MT Pro" panose="02040504050005020304" pitchFamily="18" charset="77"/>
              <a:ea typeface="Times New Roman" panose="02020603050405020304" pitchFamily="18" charset="0"/>
              <a:cs typeface="Aldhabi" panose="01000000000000000000" pitchFamily="2" charset="-78"/>
            </a:endParaRPr>
          </a:p>
          <a:p>
            <a:pPr algn="ctr"/>
            <a:r>
              <a:rPr lang="en-GB" sz="2500" b="1" kern="1200" dirty="0">
                <a:solidFill>
                  <a:srgbClr val="000000"/>
                </a:solidFill>
                <a:effectLst/>
                <a:latin typeface="Amasis MT Pro" panose="02040504050005020304" pitchFamily="18" charset="77"/>
                <a:ea typeface="Times New Roman" panose="02020603050405020304" pitchFamily="18" charset="0"/>
                <a:cs typeface="Aldhabi" panose="01000000000000000000" pitchFamily="2" charset="-78"/>
              </a:rPr>
              <a:t>THE ROLE OF ENVIRONMENTAL EDUCATION IN PROMOTING SUSTAINABLE DEVELOPMENT</a:t>
            </a:r>
            <a:endParaRPr lang="en-NG" sz="2500" b="1" kern="100" dirty="0">
              <a:effectLst/>
              <a:latin typeface="Amasis MT Pro" panose="02040504050005020304" pitchFamily="18" charset="77"/>
              <a:ea typeface="Times New Roman" panose="02020603050405020304" pitchFamily="18" charset="0"/>
              <a:cs typeface="Aldhabi" panose="01000000000000000000" pitchFamily="2" charset="-78"/>
            </a:endParaRPr>
          </a:p>
          <a:p>
            <a:pPr algn="ctr"/>
            <a:br>
              <a:rPr lang="en-GB" sz="2500" b="1" dirty="0">
                <a:latin typeface="Amasis MT Pro" panose="02040504050005020304" pitchFamily="18" charset="77"/>
                <a:cs typeface="Aldhabi" panose="01000000000000000000" pitchFamily="2" charset="-78"/>
              </a:rPr>
            </a:br>
            <a:endParaRPr lang="en-NG" sz="2500" b="1" dirty="0">
              <a:latin typeface="Amasis MT Pro" panose="02040504050005020304" pitchFamily="18" charset="77"/>
              <a:cs typeface="Aldhabi" panose="01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73733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71251-92AD-5B7F-519A-7BFADDAB2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000" b="1">
                <a:latin typeface="Bodoni MT" panose="02070603080606020203" pitchFamily="18" charset="77"/>
                <a:cs typeface="Biome" panose="020B05030302040208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4F39A-F0D5-934A-80C2-EBB1CFAE2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Sustainable development faces serious environmental challenges</a:t>
            </a:r>
          </a:p>
          <a:p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challenges result largely from environmental degradation</a:t>
            </a:r>
          </a:p>
          <a:p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degradation arises from unsustainable human activities</a:t>
            </a:r>
          </a:p>
          <a:p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Addressing these issues requires informed behavioural change</a:t>
            </a:r>
          </a:p>
          <a:p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education provides knowledge for sustainable development</a:t>
            </a:r>
          </a:p>
        </p:txBody>
      </p:sp>
    </p:spTree>
    <p:extLst>
      <p:ext uri="{BB962C8B-B14F-4D97-AF65-F5344CB8AC3E}">
        <p14:creationId xmlns:p14="http://schemas.microsoft.com/office/powerpoint/2010/main" val="3702668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016FB-FB83-6648-F831-A89D6424B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000" b="1">
                <a:latin typeface="Bodoni MT" panose="02070603080606020203" pitchFamily="18" charset="77"/>
              </a:rPr>
              <a:t>ENVIRONMENTAL EDUCATION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68BF9-A984-62F0-F43F-B4E4C0C2D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00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education develops environmental knowledge and skills</a:t>
            </a:r>
          </a:p>
          <a:p>
            <a:r>
              <a:rPr lang="en-GB" sz="3000">
                <a:latin typeface="Times New Roman" panose="02020603050405020304" pitchFamily="18" charset="0"/>
                <a:cs typeface="Times New Roman" panose="02020603050405020304" pitchFamily="18" charset="0"/>
              </a:rPr>
              <a:t>It shapes values, attitudes, and responsible environmental behaviour</a:t>
            </a:r>
          </a:p>
          <a:p>
            <a:r>
              <a:rPr lang="en-GB" sz="3000">
                <a:latin typeface="Times New Roman" panose="02020603050405020304" pitchFamily="18" charset="0"/>
                <a:cs typeface="Times New Roman" panose="02020603050405020304" pitchFamily="18" charset="0"/>
              </a:rPr>
              <a:t>Encourages understanding of human–environment interactions</a:t>
            </a:r>
          </a:p>
          <a:p>
            <a:r>
              <a:rPr lang="en-GB" sz="3000">
                <a:latin typeface="Times New Roman" panose="02020603050405020304" pitchFamily="18" charset="0"/>
                <a:cs typeface="Times New Roman" panose="02020603050405020304" pitchFamily="18" charset="0"/>
              </a:rPr>
              <a:t>Promotes lifelong learning for environmental responsibility</a:t>
            </a:r>
          </a:p>
          <a:p>
            <a:r>
              <a:rPr lang="en-GB" sz="3000">
                <a:latin typeface="Times New Roman" panose="02020603050405020304" pitchFamily="18" charset="0"/>
                <a:cs typeface="Times New Roman" panose="02020603050405020304" pitchFamily="18" charset="0"/>
              </a:rPr>
              <a:t>Foundation for sustainable development initiatives</a:t>
            </a:r>
          </a:p>
        </p:txBody>
      </p:sp>
    </p:spTree>
    <p:extLst>
      <p:ext uri="{BB962C8B-B14F-4D97-AF65-F5344CB8AC3E}">
        <p14:creationId xmlns:p14="http://schemas.microsoft.com/office/powerpoint/2010/main" val="3010711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914A2-F41D-A2EC-9FC4-B78C92CC6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000" b="1">
                <a:latin typeface="Bodoni MT" panose="02070603080606020203" pitchFamily="18" charset="77"/>
              </a:rPr>
              <a:t>SUSTAINABLE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75BF4-5599-154B-41C6-C1DEC9FA0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9956" y="1690688"/>
            <a:ext cx="7742044" cy="4351338"/>
          </a:xfrm>
        </p:spPr>
        <p:txBody>
          <a:bodyPr>
            <a:normAutofit/>
          </a:bodyPr>
          <a:lstStyle/>
          <a:p>
            <a:r>
              <a:rPr lang="en-GB" sz="3000">
                <a:latin typeface="Times New Roman" panose="02020603050405020304" pitchFamily="18" charset="0"/>
                <a:cs typeface="Times New Roman" panose="02020603050405020304" pitchFamily="18" charset="0"/>
              </a:rPr>
              <a:t>Sustainable development meets present and future needs</a:t>
            </a:r>
          </a:p>
          <a:p>
            <a:r>
              <a:rPr lang="en-GB" sz="3000">
                <a:latin typeface="Times New Roman" panose="02020603050405020304" pitchFamily="18" charset="0"/>
                <a:cs typeface="Times New Roman" panose="02020603050405020304" pitchFamily="18" charset="0"/>
              </a:rPr>
              <a:t>Balances environmental, economic, and social development</a:t>
            </a:r>
          </a:p>
          <a:p>
            <a:r>
              <a:rPr lang="en-GB" sz="3000">
                <a:latin typeface="Times New Roman" panose="02020603050405020304" pitchFamily="18" charset="0"/>
                <a:cs typeface="Times New Roman" panose="02020603050405020304" pitchFamily="18" charset="0"/>
              </a:rPr>
              <a:t>Prevents resource depletion and environmental collapse</a:t>
            </a:r>
          </a:p>
          <a:p>
            <a:r>
              <a:rPr lang="en-GB" sz="3000">
                <a:latin typeface="Times New Roman" panose="02020603050405020304" pitchFamily="18" charset="0"/>
                <a:cs typeface="Times New Roman" panose="02020603050405020304" pitchFamily="18" charset="0"/>
              </a:rPr>
              <a:t>Promotes long-term environmental and human wellbeing</a:t>
            </a:r>
          </a:p>
          <a:p>
            <a:r>
              <a:rPr lang="en-GB" sz="3000">
                <a:latin typeface="Times New Roman" panose="02020603050405020304" pitchFamily="18" charset="0"/>
                <a:cs typeface="Times New Roman" panose="02020603050405020304" pitchFamily="18" charset="0"/>
              </a:rPr>
              <a:t>Central goal of global environmental policies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43CB5C-3EBA-CAFA-CE62-0863B412D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690690"/>
            <a:ext cx="4362096" cy="4101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093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55906-43AC-AF7B-DE20-D8491201B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500" b="1" dirty="0">
                <a:latin typeface="Bodoni MT" panose="02070603080606020203" pitchFamily="18" charset="77"/>
              </a:rPr>
              <a:t>ENVIRONMENTAL EDUCATION AND SUSTAINABILITY </a:t>
            </a:r>
            <a:endParaRPr lang="en-GB" sz="3500" b="1" dirty="0">
              <a:latin typeface="Bodoni MT" panose="02070603080606020203" pitchFamily="18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C659D-AB9D-E3E6-08DA-EB55E96A3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1210"/>
            <a:ext cx="10515600" cy="3702205"/>
          </a:xfrm>
        </p:spPr>
        <p:txBody>
          <a:bodyPr>
            <a:normAutofit/>
          </a:bodyPr>
          <a:lstStyle/>
          <a:p>
            <a:r>
              <a:rPr lang="en-GB" sz="300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education supports sustainable development goals</a:t>
            </a:r>
          </a:p>
          <a:p>
            <a:r>
              <a:rPr lang="en-GB" sz="3000">
                <a:latin typeface="Times New Roman" panose="02020603050405020304" pitchFamily="18" charset="0"/>
                <a:cs typeface="Times New Roman" panose="02020603050405020304" pitchFamily="18" charset="0"/>
              </a:rPr>
              <a:t>Builds awareness of climate change and resource conservation</a:t>
            </a:r>
          </a:p>
          <a:p>
            <a:r>
              <a:rPr lang="en-GB" sz="3000">
                <a:latin typeface="Times New Roman" panose="02020603050405020304" pitchFamily="18" charset="0"/>
                <a:cs typeface="Times New Roman" panose="02020603050405020304" pitchFamily="18" charset="0"/>
              </a:rPr>
              <a:t>Encourages sustainable lifestyles and consumption patterns</a:t>
            </a:r>
          </a:p>
          <a:p>
            <a:r>
              <a:rPr lang="en-GB" sz="3000">
                <a:latin typeface="Times New Roman" panose="02020603050405020304" pitchFamily="18" charset="0"/>
                <a:cs typeface="Times New Roman" panose="02020603050405020304" pitchFamily="18" charset="0"/>
              </a:rPr>
              <a:t>Empowers individuals as environmental change agents</a:t>
            </a:r>
          </a:p>
          <a:p>
            <a:r>
              <a:rPr lang="en-GB" sz="3000">
                <a:latin typeface="Times New Roman" panose="02020603050405020304" pitchFamily="18" charset="0"/>
                <a:cs typeface="Times New Roman" panose="02020603050405020304" pitchFamily="18" charset="0"/>
              </a:rPr>
              <a:t>Bridges knowledge and sustainable action</a:t>
            </a:r>
          </a:p>
        </p:txBody>
      </p:sp>
    </p:spTree>
    <p:extLst>
      <p:ext uri="{BB962C8B-B14F-4D97-AF65-F5344CB8AC3E}">
        <p14:creationId xmlns:p14="http://schemas.microsoft.com/office/powerpoint/2010/main" val="2756534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929DE-AA89-118A-70A0-FFFB9C629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257029"/>
          </a:xfrm>
        </p:spPr>
        <p:txBody>
          <a:bodyPr>
            <a:noAutofit/>
          </a:bodyPr>
          <a:lstStyle/>
          <a:p>
            <a:pPr algn="ctr"/>
            <a:r>
              <a:rPr lang="en-GB" sz="3700" b="1" dirty="0">
                <a:latin typeface="Bodoni MT" panose="02070603080606020203" pitchFamily="18" charset="77"/>
              </a:rPr>
              <a:t>E</a:t>
            </a:r>
            <a:r>
              <a:rPr lang="en-US" sz="3700" b="1" dirty="0" err="1">
                <a:latin typeface="Bodoni MT" panose="02070603080606020203" pitchFamily="18" charset="77"/>
              </a:rPr>
              <a:t>NVIRONMENTAL</a:t>
            </a:r>
            <a:r>
              <a:rPr lang="en-US" sz="3700" b="1" dirty="0">
                <a:latin typeface="Bodoni MT" panose="02070603080606020203" pitchFamily="18" charset="77"/>
              </a:rPr>
              <a:t> AWARENESS AND LITERACY</a:t>
            </a:r>
            <a:endParaRPr lang="en-GB" sz="3700" b="1" dirty="0">
              <a:latin typeface="Bodoni MT" panose="02070603080606020203" pitchFamily="18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F1628-F454-989E-7925-33AAF3115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00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literacy means understanding environmental issues</a:t>
            </a:r>
          </a:p>
          <a:p>
            <a:r>
              <a:rPr lang="en-GB" sz="3000">
                <a:latin typeface="Times New Roman" panose="02020603050405020304" pitchFamily="18" charset="0"/>
                <a:cs typeface="Times New Roman" panose="02020603050405020304" pitchFamily="18" charset="0"/>
              </a:rPr>
              <a:t>Education improves awareness of environmental challenges</a:t>
            </a:r>
          </a:p>
          <a:p>
            <a:r>
              <a:rPr lang="en-GB" sz="3000">
                <a:latin typeface="Times New Roman" panose="02020603050405020304" pitchFamily="18" charset="0"/>
                <a:cs typeface="Times New Roman" panose="02020603050405020304" pitchFamily="18" charset="0"/>
              </a:rPr>
              <a:t>Enhances critical thinking and informed decision-making</a:t>
            </a:r>
          </a:p>
          <a:p>
            <a:r>
              <a:rPr lang="en-GB" sz="3000">
                <a:latin typeface="Times New Roman" panose="02020603050405020304" pitchFamily="18" charset="0"/>
                <a:cs typeface="Times New Roman" panose="02020603050405020304" pitchFamily="18" charset="0"/>
              </a:rPr>
              <a:t>Promotes responsible environmental choices</a:t>
            </a:r>
          </a:p>
          <a:p>
            <a:r>
              <a:rPr lang="en-GB" sz="3000">
                <a:latin typeface="Times New Roman" panose="02020603050405020304" pitchFamily="18" charset="0"/>
                <a:cs typeface="Times New Roman" panose="02020603050405020304" pitchFamily="18" charset="0"/>
              </a:rPr>
              <a:t>Supports long-term sustainable behaviour</a:t>
            </a:r>
          </a:p>
        </p:txBody>
      </p:sp>
    </p:spTree>
    <p:extLst>
      <p:ext uri="{BB962C8B-B14F-4D97-AF65-F5344CB8AC3E}">
        <p14:creationId xmlns:p14="http://schemas.microsoft.com/office/powerpoint/2010/main" val="355534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537AC35-1B14-2CEB-5AED-DDC83E543F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465122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ED38E7-C425-C06E-9C52-864642CEE643}"/>
              </a:ext>
            </a:extLst>
          </p:cNvPr>
          <p:cNvSpPr txBox="1"/>
          <p:nvPr/>
        </p:nvSpPr>
        <p:spPr>
          <a:xfrm>
            <a:off x="7824438" y="2090172"/>
            <a:ext cx="3964079" cy="31085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800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cycle demonstrates that environmental education is not just about learning, but about allowing information to reshape our perception and propel us into action.</a:t>
            </a:r>
            <a:endParaRPr lang="en-GB" sz="2800" dirty="0">
              <a:solidFill>
                <a:srgbClr val="1F1F1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988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2F8E4-F545-DC51-30D7-69D0B28C1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sz="4000" b="1" dirty="0">
                <a:latin typeface="Bodoni MT" panose="02070603080606020203" pitchFamily="18" charset="77"/>
              </a:rPr>
              <a:t>BEHAVIORAL CHANGE </a:t>
            </a:r>
            <a:endParaRPr lang="en-GB" sz="4000" b="1" dirty="0">
              <a:latin typeface="Bodoni MT" panose="02070603080606020203" pitchFamily="18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B5AA9-2BBB-98CE-DF5D-41D367653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education shapes attitudes and ethical values</a:t>
            </a:r>
          </a:p>
          <a:p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Encourages pro-environmental behaviour and responsibility</a:t>
            </a:r>
          </a:p>
          <a:p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Translates knowledge into practical sustainable actions</a:t>
            </a:r>
          </a:p>
          <a:p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recycling, conservation, and energy efficiency</a:t>
            </a:r>
          </a:p>
          <a:p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Strengthens environmental stewardship culture</a:t>
            </a:r>
          </a:p>
        </p:txBody>
      </p:sp>
    </p:spTree>
    <p:extLst>
      <p:ext uri="{BB962C8B-B14F-4D97-AF65-F5344CB8AC3E}">
        <p14:creationId xmlns:p14="http://schemas.microsoft.com/office/powerpoint/2010/main" val="608841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09E2D-2B1F-BFF8-E410-A5F763C75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7823"/>
            <a:ext cx="10515600" cy="997802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Bodoni MT" panose="02070603080606020203" pitchFamily="18" charset="77"/>
              </a:rPr>
              <a:t>COMMUNITY AND INSTITUTIONAL IMPACT</a:t>
            </a:r>
            <a:endParaRPr lang="en-GB" sz="4000" b="1" dirty="0">
              <a:latin typeface="Bodoni MT" panose="02070603080606020203" pitchFamily="18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404C9-AE58-B816-8A6F-9F1FCB3F6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80960"/>
          </a:xfrm>
        </p:spPr>
        <p:txBody>
          <a:bodyPr>
            <a:normAutofit/>
          </a:bodyPr>
          <a:lstStyle/>
          <a:p>
            <a:r>
              <a:rPr lang="en-GB" sz="3000"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Environmental education promotes community participation</a:t>
            </a:r>
          </a:p>
          <a:p>
            <a:r>
              <a:rPr lang="en-GB" sz="3000"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Strengthens institutional sustainability practices</a:t>
            </a:r>
          </a:p>
          <a:p>
            <a:r>
              <a:rPr lang="en-GB" sz="3000"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Supports environmental policy implementation</a:t>
            </a:r>
          </a:p>
          <a:p>
            <a:r>
              <a:rPr lang="en-GB" sz="3000"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Encourages collective environmental responsibility</a:t>
            </a:r>
          </a:p>
          <a:p>
            <a:r>
              <a:rPr lang="en-GB" sz="3000"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Enhances sustainable development outcomes</a:t>
            </a:r>
          </a:p>
        </p:txBody>
      </p:sp>
    </p:spTree>
    <p:extLst>
      <p:ext uri="{BB962C8B-B14F-4D97-AF65-F5344CB8AC3E}">
        <p14:creationId xmlns:p14="http://schemas.microsoft.com/office/powerpoint/2010/main" val="3078180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5F070-4B68-7ADA-BDF3-76C0CD227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>
                <a:latin typeface="Bodoni MT" panose="02070603080606020203" pitchFamily="18" charset="77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8EF53-3C7D-98DC-12C5-7A352A970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00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education is crucial for sustainable development</a:t>
            </a:r>
          </a:p>
          <a:p>
            <a:r>
              <a:rPr lang="en-GB" sz="3000">
                <a:latin typeface="Times New Roman" panose="02020603050405020304" pitchFamily="18" charset="0"/>
                <a:cs typeface="Times New Roman" panose="02020603050405020304" pitchFamily="18" charset="0"/>
              </a:rPr>
              <a:t>Builds knowledge, values, and responsible environmental behaviour</a:t>
            </a:r>
          </a:p>
          <a:p>
            <a:r>
              <a:rPr lang="en-GB" sz="3000">
                <a:latin typeface="Times New Roman" panose="02020603050405020304" pitchFamily="18" charset="0"/>
                <a:cs typeface="Times New Roman" panose="02020603050405020304" pitchFamily="18" charset="0"/>
              </a:rPr>
              <a:t>Encourages long-term environmental sustainability</a:t>
            </a:r>
          </a:p>
          <a:p>
            <a:r>
              <a:rPr lang="en-GB" sz="3000">
                <a:latin typeface="Times New Roman" panose="02020603050405020304" pitchFamily="18" charset="0"/>
                <a:cs typeface="Times New Roman" panose="02020603050405020304" pitchFamily="18" charset="0"/>
              </a:rPr>
              <a:t>Supports resilience to environmental challenges</a:t>
            </a:r>
          </a:p>
          <a:p>
            <a:r>
              <a:rPr lang="en-GB" sz="3000">
                <a:latin typeface="Times New Roman" panose="02020603050405020304" pitchFamily="18" charset="0"/>
                <a:cs typeface="Times New Roman" panose="02020603050405020304" pitchFamily="18" charset="0"/>
              </a:rPr>
              <a:t>Essential for a sustainable future</a:t>
            </a:r>
          </a:p>
        </p:txBody>
      </p:sp>
    </p:spTree>
    <p:extLst>
      <p:ext uri="{BB962C8B-B14F-4D97-AF65-F5344CB8AC3E}">
        <p14:creationId xmlns:p14="http://schemas.microsoft.com/office/powerpoint/2010/main" val="2649995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A444235-C884-D8F0-869A-DEBB7624B786}"/>
              </a:ext>
            </a:extLst>
          </p:cNvPr>
          <p:cNvSpPr txBox="1"/>
          <p:nvPr/>
        </p:nvSpPr>
        <p:spPr>
          <a:xfrm>
            <a:off x="3044903" y="2844224"/>
            <a:ext cx="610219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0" dirty="0">
                <a:latin typeface="Lucida Calligraphy" panose="03010101010101010101" pitchFamily="66" charset="77"/>
              </a:rPr>
              <a:t>Thank You</a:t>
            </a:r>
            <a:endParaRPr lang="en-NG" sz="7000" dirty="0">
              <a:latin typeface="Lucida Calligraphy" panose="03010101010101010101" pitchFamily="66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013689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 EJAKPOMEHWE FAITH FOS/22/004039  SUPERVISOR: DR. E.A. ENOH</vt:lpstr>
      <vt:lpstr>INTRODUCTION</vt:lpstr>
      <vt:lpstr>ENVIRONMENTAL EDUCATION</vt:lpstr>
      <vt:lpstr>SUSTAINABLE DEVELOPMENT</vt:lpstr>
      <vt:lpstr>ENVIRONMENTAL EDUCATION AND SUSTAINABILITY </vt:lpstr>
      <vt:lpstr>ENVIRONMENTAL AWARENESS AND LITERACY</vt:lpstr>
      <vt:lpstr>PowerPoint Presentation</vt:lpstr>
      <vt:lpstr>BEHAVIORAL CHANGE </vt:lpstr>
      <vt:lpstr>COMMUNITY AND INSTITUTIONAL IMPACT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Role of Environmental Education in Promoting Sustainable Development Seminar Presentation Ejakpomehwe Faith Department of Environmental Management and Toxicology Southern Delta University, Ozoro</dc:title>
  <dc:creator>daniel brown</dc:creator>
  <cp:lastModifiedBy>daniel brown</cp:lastModifiedBy>
  <cp:revision>7</cp:revision>
  <dcterms:created xsi:type="dcterms:W3CDTF">2026-02-01T19:34:44Z</dcterms:created>
  <dcterms:modified xsi:type="dcterms:W3CDTF">2026-02-02T14:08:42Z</dcterms:modified>
</cp:coreProperties>
</file>